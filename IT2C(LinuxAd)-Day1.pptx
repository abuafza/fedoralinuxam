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45" r:id="rId2"/>
    <p:sldId id="346" r:id="rId3"/>
    <p:sldId id="347" r:id="rId4"/>
    <p:sldId id="348" r:id="rId5"/>
    <p:sldId id="349" r:id="rId6"/>
    <p:sldId id="452" r:id="rId7"/>
    <p:sldId id="355" r:id="rId8"/>
    <p:sldId id="356" r:id="rId9"/>
    <p:sldId id="357" r:id="rId10"/>
    <p:sldId id="358" r:id="rId11"/>
    <p:sldId id="369" r:id="rId12"/>
    <p:sldId id="332" r:id="rId13"/>
    <p:sldId id="333" r:id="rId14"/>
    <p:sldId id="359" r:id="rId15"/>
    <p:sldId id="342" r:id="rId16"/>
    <p:sldId id="334" r:id="rId17"/>
    <p:sldId id="337" r:id="rId18"/>
    <p:sldId id="338" r:id="rId19"/>
    <p:sldId id="339" r:id="rId20"/>
    <p:sldId id="340" r:id="rId21"/>
    <p:sldId id="341" r:id="rId22"/>
    <p:sldId id="335" r:id="rId23"/>
    <p:sldId id="360" r:id="rId24"/>
    <p:sldId id="361" r:id="rId25"/>
    <p:sldId id="362" r:id="rId26"/>
    <p:sldId id="336" r:id="rId27"/>
    <p:sldId id="344" r:id="rId28"/>
    <p:sldId id="31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75"/>
    <p:restoredTop sz="94660"/>
  </p:normalViewPr>
  <p:slideViewPr>
    <p:cSldViewPr>
      <p:cViewPr varScale="1">
        <p:scale>
          <a:sx n="111" d="100"/>
          <a:sy n="111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FD7E3-6058-443A-8D86-7140984AB39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7E8F5-A740-42B7-A344-CABD586C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33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16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05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E343-DA35-9F83-F430-659D799D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9039F-FE1D-881A-EACC-5C8CF27ED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AC1C1-76E2-6074-8A69-18683637F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4D81D-A9E6-E29D-F1F0-E2789316E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14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26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4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12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28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854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858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761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7E8F5-A740-42B7-A344-CABD586CD87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02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2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9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5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1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9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84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4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2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37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27747-5C30-4424-B103-948FD248B96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F0CAC-487E-408E-92BE-D0F4D89A1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9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meetup-join/19%3ameeting_MDg5N2E2ZTktZDc0OC00ZDVlLTk0NDEtMDMzY2VmMDUzYWY3%40thread.v2/0?context=%7b%22Tid%22%3a%2271992a9f-1717-4c4e-9b5c-132cceaca437%22%2c%22Oid%22%3a%224c032053-a06f-49c9-b5db-23e04293911b%22%7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edg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ams.microsoft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asoneckert.github.io/myblog/using-google-like-a-pr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JA9eiUktcA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uxg17JlyFa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plainshell.com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s64.com/bash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1"/>
            <a:ext cx="7772400" cy="200025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</a:t>
            </a:r>
            <a:br>
              <a:rPr lang="en-US" dirty="0"/>
            </a:br>
            <a:r>
              <a:rPr lang="en-US" dirty="0"/>
              <a:t>Linux Administration</a:t>
            </a:r>
            <a:br>
              <a:rPr lang="en-US" dirty="0"/>
            </a:br>
            <a:r>
              <a:rPr lang="en-US" dirty="0"/>
              <a:t>Day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 Professional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E565C-5905-D3E2-8240-0393487F6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638800"/>
            <a:ext cx="7772400" cy="90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8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US" dirty="0"/>
              <a:t>Welcome to Linux Administration!</a:t>
            </a:r>
          </a:p>
          <a:p>
            <a:r>
              <a:rPr lang="en-US" dirty="0"/>
              <a:t>Course/Block Introduction</a:t>
            </a:r>
          </a:p>
          <a:p>
            <a:r>
              <a:rPr lang="en-US" dirty="0"/>
              <a:t>Tips for Microsoft Teams</a:t>
            </a:r>
          </a:p>
          <a:p>
            <a:r>
              <a:rPr lang="en-US" dirty="0"/>
              <a:t>Online Search and AI</a:t>
            </a:r>
          </a:p>
          <a:p>
            <a:r>
              <a:rPr lang="en-US" dirty="0"/>
              <a:t>Ch.1 Introduction to Linux</a:t>
            </a:r>
          </a:p>
          <a:p>
            <a:r>
              <a:rPr lang="en-US" dirty="0"/>
              <a:t>Lab exercises/tasks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896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Course/Block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US" dirty="0"/>
              <a:t>This block (</a:t>
            </a:r>
            <a:r>
              <a:rPr lang="en-US" b="1" dirty="0">
                <a:solidFill>
                  <a:srgbClr val="339933"/>
                </a:solidFill>
              </a:rPr>
              <a:t>Network and Linux Administration</a:t>
            </a:r>
            <a:r>
              <a:rPr lang="en-US" dirty="0"/>
              <a:t>) is 16 weeks long:</a:t>
            </a:r>
          </a:p>
          <a:p>
            <a:pPr lvl="1"/>
            <a:r>
              <a:rPr lang="en-US" dirty="0"/>
              <a:t>4 weeks of </a:t>
            </a:r>
            <a:r>
              <a:rPr lang="en-US" b="1" dirty="0">
                <a:solidFill>
                  <a:srgbClr val="339933"/>
                </a:solidFill>
              </a:rPr>
              <a:t>IT Service and Project Management </a:t>
            </a:r>
          </a:p>
          <a:p>
            <a:pPr lvl="1"/>
            <a:r>
              <a:rPr lang="en-US" dirty="0"/>
              <a:t>4 weeks of </a:t>
            </a:r>
            <a:r>
              <a:rPr lang="en-US" b="1" dirty="0">
                <a:solidFill>
                  <a:srgbClr val="339933"/>
                </a:solidFill>
              </a:rPr>
              <a:t>Network Administration </a:t>
            </a:r>
          </a:p>
          <a:p>
            <a:pPr lvl="1"/>
            <a:r>
              <a:rPr lang="en-US" dirty="0"/>
              <a:t>6 weeks of </a:t>
            </a:r>
            <a:r>
              <a:rPr lang="en-US" b="1" dirty="0">
                <a:solidFill>
                  <a:srgbClr val="339933"/>
                </a:solidFill>
              </a:rPr>
              <a:t>Linux Administration </a:t>
            </a:r>
            <a:r>
              <a:rPr lang="en-US" dirty="0"/>
              <a:t>(this course)</a:t>
            </a:r>
          </a:p>
          <a:p>
            <a:pPr lvl="2"/>
            <a:r>
              <a:rPr lang="en-US" dirty="0"/>
              <a:t>CompTIA Linux+ certification available</a:t>
            </a:r>
          </a:p>
          <a:p>
            <a:pPr lvl="1"/>
            <a:r>
              <a:rPr lang="en-US" dirty="0"/>
              <a:t>2 weeks of </a:t>
            </a:r>
            <a:r>
              <a:rPr lang="en-US" b="1" dirty="0">
                <a:solidFill>
                  <a:srgbClr val="339933"/>
                </a:solidFill>
              </a:rPr>
              <a:t>Security Fundamentals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81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Course/Block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US" dirty="0"/>
              <a:t>This course (</a:t>
            </a:r>
            <a:r>
              <a:rPr lang="en-US" b="1" dirty="0">
                <a:solidFill>
                  <a:srgbClr val="339933"/>
                </a:solidFill>
              </a:rPr>
              <a:t>Linux Administration</a:t>
            </a:r>
            <a:r>
              <a:rPr lang="en-US" dirty="0"/>
              <a:t>):</a:t>
            </a:r>
          </a:p>
          <a:p>
            <a:pPr lvl="1"/>
            <a:r>
              <a:rPr lang="en-CA" dirty="0"/>
              <a:t>Covers the usage and administration of the Linux operating system (including services and cloud)</a:t>
            </a:r>
          </a:p>
          <a:p>
            <a:pPr lvl="1"/>
            <a:r>
              <a:rPr lang="en-CA" dirty="0"/>
              <a:t>CompTIA Linux+ certification available</a:t>
            </a:r>
            <a:endParaRPr lang="en-US" dirty="0"/>
          </a:p>
          <a:p>
            <a:pPr lvl="1"/>
            <a:r>
              <a:rPr lang="en-US" dirty="0"/>
              <a:t>Book is available in </a:t>
            </a:r>
            <a:r>
              <a:rPr lang="en-US" dirty="0" err="1"/>
              <a:t>Brightspace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cover of a book&#10;&#10;AI-generated content may be incorrect.">
            <a:extLst>
              <a:ext uri="{FF2B5EF4-FFF2-40B4-BE49-F238E27FC236}">
                <a16:creationId xmlns:a16="http://schemas.microsoft.com/office/drawing/2014/main" id="{6353B878-6AD8-FDF3-229A-2A269D661B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89537"/>
            <a:ext cx="2465640" cy="31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4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Course/Block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339933"/>
                </a:solidFill>
              </a:rPr>
              <a:t>Attendance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Like or reply to the Welcome post in Teams before class (cuts down on the time it takes to do attendance at the beginning of class – I’ll update it on break from the Teams attendance spreadsheet)</a:t>
            </a:r>
          </a:p>
          <a:p>
            <a:pPr lvl="1"/>
            <a:r>
              <a:rPr lang="en-US" dirty="0"/>
              <a:t>If you cannot make it to class, please message me beforehand if possible (email or Teams) and watch the recording for that day afterwards.</a:t>
            </a:r>
          </a:p>
          <a:p>
            <a:r>
              <a:rPr lang="en-US" b="1" dirty="0">
                <a:solidFill>
                  <a:srgbClr val="339933"/>
                </a:solidFill>
              </a:rPr>
              <a:t>Marks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Assignment = 10%</a:t>
            </a:r>
          </a:p>
          <a:p>
            <a:pPr lvl="1"/>
            <a:r>
              <a:rPr lang="en-US" dirty="0"/>
              <a:t>Quizzes = 20% (5 quizzes in total, each Monday)</a:t>
            </a:r>
          </a:p>
          <a:p>
            <a:pPr lvl="1"/>
            <a:r>
              <a:rPr lang="en-US"/>
              <a:t>Final Project </a:t>
            </a:r>
            <a:r>
              <a:rPr lang="en-US" dirty="0"/>
              <a:t>= 60%</a:t>
            </a:r>
          </a:p>
          <a:p>
            <a:pPr lvl="1"/>
            <a:r>
              <a:rPr lang="en-US" dirty="0"/>
              <a:t>Professional Performance = 10%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12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7970-889A-D5FB-8E92-6EFF8DF45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CE69-BE8C-E95D-F863-2C7B9A5E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Course/Block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74D86-FBF9-3CC4-2898-ABFBEEDF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339933"/>
                </a:solidFill>
              </a:rPr>
              <a:t>Getting Additional Help </a:t>
            </a:r>
            <a:endParaRPr lang="en-US" dirty="0"/>
          </a:p>
          <a:p>
            <a:pPr lvl="1"/>
            <a:r>
              <a:rPr lang="en-US" dirty="0"/>
              <a:t>An optional student-focused, instructor-led study lab is open to all IT students that need assistance outside of normal class hours. </a:t>
            </a:r>
          </a:p>
          <a:p>
            <a:pPr lvl="2"/>
            <a:r>
              <a:rPr lang="en-US" dirty="0"/>
              <a:t>This lab runs from 1:00pm - 5:00pm, Monday to Friday in Microsoft Teams and will be facilitated by IT instructor Glenn </a:t>
            </a:r>
            <a:r>
              <a:rPr lang="en-US" dirty="0" err="1"/>
              <a:t>Lankin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Join the Instructor-Led IT Study Lab Team to receive communication from Glenn and post questions (in Teams, navigate to </a:t>
            </a:r>
            <a:r>
              <a:rPr lang="en-US" b="1" dirty="0"/>
              <a:t>Teams &gt; Join or create team &gt; Join team</a:t>
            </a:r>
            <a:r>
              <a:rPr lang="en-US" dirty="0"/>
              <a:t>, and search for </a:t>
            </a:r>
            <a:r>
              <a:rPr lang="en-US" b="1" dirty="0"/>
              <a:t>Instructor-Led IT Study Lab</a:t>
            </a:r>
            <a:r>
              <a:rPr lang="en-US" dirty="0"/>
              <a:t>).</a:t>
            </a:r>
          </a:p>
          <a:p>
            <a:pPr lvl="2"/>
            <a:r>
              <a:rPr lang="en-US" dirty="0"/>
              <a:t>For </a:t>
            </a:r>
            <a:r>
              <a:rPr lang="en-US" b="1" dirty="0"/>
              <a:t>individual (1-on-1) help</a:t>
            </a:r>
            <a:r>
              <a:rPr lang="en-US" dirty="0"/>
              <a:t>, click on this </a:t>
            </a:r>
            <a:r>
              <a:rPr lang="en-US" dirty="0">
                <a:hlinkClick r:id="rId3"/>
              </a:rPr>
              <a:t>direct link</a:t>
            </a:r>
            <a:r>
              <a:rPr lang="en-US" dirty="0"/>
              <a:t> to join the live lab session with Glenn.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771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292142-6E34-8D49-9F84-CEE15C220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84248"/>
            <a:ext cx="7772400" cy="508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48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665084-2CF4-E8C6-002F-38951FF60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7337"/>
            <a:ext cx="7772400" cy="66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73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D16A9E-3D95-C80F-FB21-9A00AC15D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27776"/>
            <a:ext cx="7772400" cy="500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41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Tips for Microsoft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CA" dirty="0"/>
              <a:t>The </a:t>
            </a:r>
            <a:r>
              <a:rPr lang="en-CA" sz="3000" b="1" dirty="0">
                <a:solidFill>
                  <a:srgbClr val="339933"/>
                </a:solidFill>
              </a:rPr>
              <a:t>Microsoft Teams </a:t>
            </a:r>
            <a:r>
              <a:rPr lang="en-CA" dirty="0"/>
              <a:t>app currently uses a lot of system resources. </a:t>
            </a:r>
          </a:p>
          <a:p>
            <a:r>
              <a:rPr lang="en-CA" dirty="0"/>
              <a:t>For better performance install Teams as a Microsoft Edge app:</a:t>
            </a:r>
          </a:p>
          <a:p>
            <a:pPr lvl="1"/>
            <a:r>
              <a:rPr lang="en-CA" dirty="0"/>
              <a:t>Install the Microsoft Edge web browser from </a:t>
            </a:r>
            <a:r>
              <a:rPr lang="en-CA" dirty="0">
                <a:hlinkClick r:id="rId3"/>
              </a:rPr>
              <a:t>https://www.microsoft.com/en-us/edge</a:t>
            </a:r>
            <a:endParaRPr lang="en-CA" dirty="0"/>
          </a:p>
          <a:p>
            <a:pPr lvl="1"/>
            <a:r>
              <a:rPr lang="en-CA" dirty="0"/>
              <a:t>Open Microsoft Edge and log into </a:t>
            </a:r>
            <a:r>
              <a:rPr lang="en-CA" dirty="0">
                <a:hlinkClick r:id="rId4"/>
              </a:rPr>
              <a:t>https://teams.microsoft.com</a:t>
            </a:r>
            <a:r>
              <a:rPr lang="en-CA" dirty="0"/>
              <a:t> </a:t>
            </a:r>
            <a:endParaRPr lang="en-US" dirty="0"/>
          </a:p>
          <a:p>
            <a:pPr lvl="1"/>
            <a:r>
              <a:rPr lang="en-US" dirty="0"/>
              <a:t>Click </a:t>
            </a:r>
            <a:r>
              <a:rPr lang="en-US" b="1" dirty="0"/>
              <a:t>...</a:t>
            </a:r>
            <a:r>
              <a:rPr lang="en-US" dirty="0"/>
              <a:t> &gt; </a:t>
            </a:r>
            <a:r>
              <a:rPr lang="en-US" b="1" dirty="0"/>
              <a:t>Apps</a:t>
            </a:r>
            <a:r>
              <a:rPr lang="en-US" dirty="0"/>
              <a:t> &gt; </a:t>
            </a:r>
            <a:r>
              <a:rPr lang="en-US" b="1" dirty="0"/>
              <a:t>Install this site as an app</a:t>
            </a:r>
          </a:p>
        </p:txBody>
      </p:sp>
    </p:spTree>
    <p:extLst>
      <p:ext uri="{BB962C8B-B14F-4D97-AF65-F5344CB8AC3E}">
        <p14:creationId xmlns:p14="http://schemas.microsoft.com/office/powerpoint/2010/main" val="2583580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Online Search and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CA" dirty="0"/>
              <a:t>For the deliverables in this course, we’ll leverage online resources to generate professional content where necessary</a:t>
            </a:r>
          </a:p>
          <a:p>
            <a:pPr lvl="1"/>
            <a:r>
              <a:rPr lang="en-CA" dirty="0"/>
              <a:t>This includes Googling examples available on the Internet, as well as leveraging AI tools such as ChatGPT or Microsoft Copilot in Bing</a:t>
            </a:r>
          </a:p>
          <a:p>
            <a:pPr lvl="1"/>
            <a:r>
              <a:rPr lang="en-CA" dirty="0"/>
              <a:t>Before that time, ensure you review the following LinkedIn Learning Course: </a:t>
            </a:r>
            <a:r>
              <a:rPr lang="en-CA" b="1" dirty="0">
                <a:solidFill>
                  <a:srgbClr val="00B050"/>
                </a:solidFill>
              </a:rPr>
              <a:t>Prompt Engineering: How to Talk to the AIs</a:t>
            </a:r>
            <a:r>
              <a:rPr lang="en-CA" dirty="0"/>
              <a:t> (29 min) and read the following blog: </a:t>
            </a:r>
            <a:r>
              <a:rPr lang="en-CA" dirty="0">
                <a:hlinkClick r:id="rId3"/>
              </a:rPr>
              <a:t>https://jasoneckert.github.io/myblog/using-google-like-a-pro/</a:t>
            </a:r>
            <a:r>
              <a:rPr lang="en-CA" dirty="0"/>
              <a:t> 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54698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00600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00B050"/>
                </a:solidFill>
              </a:rPr>
              <a:t>open source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UNIX-like</a:t>
            </a:r>
            <a:r>
              <a:rPr lang="en-US" dirty="0"/>
              <a:t> OS created by Linus Torvalds in 1991 (most powerful today!)</a:t>
            </a:r>
          </a:p>
          <a:p>
            <a:pPr lvl="1"/>
            <a:r>
              <a:rPr lang="en-US" dirty="0"/>
              <a:t>Linus’ team develops the core Linux </a:t>
            </a:r>
            <a:r>
              <a:rPr lang="en-US" b="1" dirty="0">
                <a:solidFill>
                  <a:srgbClr val="00B050"/>
                </a:solidFill>
              </a:rPr>
              <a:t>kernel</a:t>
            </a:r>
            <a:r>
              <a:rPr lang="en-US" dirty="0"/>
              <a:t>, while other developers worldwide create the libraries and software that are packaged with it </a:t>
            </a:r>
          </a:p>
          <a:p>
            <a:pPr lvl="2"/>
            <a:r>
              <a:rPr lang="en-US" dirty="0"/>
              <a:t>Kernel versions have </a:t>
            </a:r>
            <a:r>
              <a:rPr lang="en-US" b="1" dirty="0" err="1"/>
              <a:t>major.minor.revision</a:t>
            </a:r>
            <a:r>
              <a:rPr lang="en-US" b="1" dirty="0"/>
              <a:t> </a:t>
            </a:r>
            <a:r>
              <a:rPr lang="en-US" dirty="0"/>
              <a:t>format </a:t>
            </a:r>
          </a:p>
          <a:p>
            <a:pPr lvl="2"/>
            <a:r>
              <a:rPr lang="en-US" dirty="0"/>
              <a:t>e.g., the 6.3.18 kernel</a:t>
            </a:r>
          </a:p>
          <a:p>
            <a:pPr lvl="1"/>
            <a:r>
              <a:rPr lang="en-US" dirty="0"/>
              <a:t>Different packaged versions are called distributions (</a:t>
            </a:r>
            <a:r>
              <a:rPr lang="en-US" b="1" dirty="0">
                <a:solidFill>
                  <a:srgbClr val="00B050"/>
                </a:solidFill>
              </a:rPr>
              <a:t>distros</a:t>
            </a:r>
            <a:r>
              <a:rPr lang="en-US" dirty="0"/>
              <a:t>) – e.g., </a:t>
            </a:r>
            <a:r>
              <a:rPr lang="en-US" b="1" dirty="0"/>
              <a:t>Fedora</a:t>
            </a:r>
            <a:r>
              <a:rPr lang="en-US" dirty="0"/>
              <a:t>, Red Hat, Debian, </a:t>
            </a:r>
            <a:r>
              <a:rPr lang="en-US" b="1" dirty="0"/>
              <a:t>Ubuntu</a:t>
            </a:r>
            <a:r>
              <a:rPr lang="en-US" dirty="0"/>
              <a:t>, </a:t>
            </a:r>
            <a:r>
              <a:rPr lang="en-US" dirty="0" err="1"/>
              <a:t>SuSE</a:t>
            </a:r>
            <a:r>
              <a:rPr lang="en-US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04643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00600"/>
          </a:xfrm>
        </p:spPr>
        <p:txBody>
          <a:bodyPr>
            <a:normAutofit/>
          </a:bodyPr>
          <a:lstStyle/>
          <a:p>
            <a:r>
              <a:rPr lang="en-US" dirty="0"/>
              <a:t>If you develop and release software under an </a:t>
            </a:r>
            <a:r>
              <a:rPr lang="en-US" b="1" dirty="0">
                <a:solidFill>
                  <a:srgbClr val="00B050"/>
                </a:solidFill>
              </a:rPr>
              <a:t>open source </a:t>
            </a:r>
            <a:r>
              <a:rPr lang="en-US" dirty="0"/>
              <a:t>license:</a:t>
            </a:r>
          </a:p>
          <a:p>
            <a:pPr lvl="1"/>
            <a:r>
              <a:rPr lang="en-US" dirty="0"/>
              <a:t>Others can access the original source code and make improvements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Bugs &amp; security are fixed quickly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Supports </a:t>
            </a:r>
            <a:r>
              <a:rPr lang="en-US" b="1" u="sng" dirty="0">
                <a:solidFill>
                  <a:srgbClr val="00B050"/>
                </a:solidFill>
              </a:rPr>
              <a:t>any</a:t>
            </a:r>
            <a:r>
              <a:rPr lang="en-US" b="1" dirty="0">
                <a:solidFill>
                  <a:srgbClr val="00B050"/>
                </a:solidFill>
              </a:rPr>
              <a:t> hardware platform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Software evolves quickly </a:t>
            </a:r>
          </a:p>
          <a:p>
            <a:pPr lvl="1"/>
            <a:r>
              <a:rPr lang="en-US" dirty="0"/>
              <a:t>This is not the case with closed source software (including freeware and shareware)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80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00600"/>
          </a:xfrm>
        </p:spPr>
        <p:txBody>
          <a:bodyPr>
            <a:normAutofit/>
          </a:bodyPr>
          <a:lstStyle/>
          <a:p>
            <a:r>
              <a:rPr lang="en-US" dirty="0"/>
              <a:t>Two major types of open source licenses: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Copyleft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Many restrictions on use</a:t>
            </a:r>
          </a:p>
          <a:p>
            <a:pPr lvl="2"/>
            <a:r>
              <a:rPr lang="en-US" dirty="0"/>
              <a:t>Includes the GPL that Linux uses!</a:t>
            </a:r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Permissive </a:t>
            </a:r>
          </a:p>
          <a:p>
            <a:pPr lvl="2"/>
            <a:r>
              <a:rPr lang="en-US" dirty="0"/>
              <a:t>Most other open source software (e.g., programming libraries, applications, etc.)</a:t>
            </a:r>
          </a:p>
          <a:p>
            <a:pPr lvl="2"/>
            <a:r>
              <a:rPr lang="en-US" dirty="0"/>
              <a:t>Most common are the BSD and MIT licenses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569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History (Figure 1-4 on </a:t>
            </a:r>
            <a:r>
              <a:rPr lang="en-US" dirty="0" err="1"/>
              <a:t>pg</a:t>
            </a:r>
            <a:r>
              <a:rPr lang="en-US" dirty="0"/>
              <a:t> 13)</a:t>
            </a:r>
          </a:p>
          <a:p>
            <a:pPr lvl="1"/>
            <a:r>
              <a:rPr lang="en-US" dirty="0"/>
              <a:t>1960s MULTICS (failed) </a:t>
            </a:r>
          </a:p>
          <a:p>
            <a:pPr lvl="1"/>
            <a:r>
              <a:rPr lang="en-US" dirty="0"/>
              <a:t>1969 AT&amp;T Bell Labs UNIX – many vendors (</a:t>
            </a:r>
            <a:r>
              <a:rPr lang="en-US" b="1" dirty="0">
                <a:solidFill>
                  <a:srgbClr val="00B050"/>
                </a:solidFill>
              </a:rPr>
              <a:t>flavors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1980s Richard Stallman’s </a:t>
            </a:r>
            <a:r>
              <a:rPr lang="en-US" b="1" dirty="0">
                <a:solidFill>
                  <a:srgbClr val="00B050"/>
                </a:solidFill>
              </a:rPr>
              <a:t>FSF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&gt; </a:t>
            </a:r>
            <a:r>
              <a:rPr lang="en-US" b="1" dirty="0">
                <a:solidFill>
                  <a:srgbClr val="00B050"/>
                </a:solidFill>
              </a:rPr>
              <a:t>GNU</a:t>
            </a:r>
            <a:r>
              <a:rPr lang="en-US" b="1" dirty="0"/>
              <a:t> </a:t>
            </a:r>
            <a:r>
              <a:rPr lang="en-US" dirty="0"/>
              <a:t>&gt; </a:t>
            </a:r>
            <a:r>
              <a:rPr lang="en-US" b="1" dirty="0">
                <a:solidFill>
                  <a:srgbClr val="00B050"/>
                </a:solidFill>
              </a:rPr>
              <a:t>GPL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1991 GPL Linux = open source UNIX (</a:t>
            </a:r>
            <a:r>
              <a:rPr lang="en-US" b="1" dirty="0">
                <a:solidFill>
                  <a:srgbClr val="00B050"/>
                </a:solidFill>
              </a:rPr>
              <a:t>distros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1998: 750,000 Red Hat Linux installs</a:t>
            </a:r>
          </a:p>
          <a:p>
            <a:pPr lvl="1"/>
            <a:r>
              <a:rPr lang="en-US" dirty="0"/>
              <a:t>2000: Mainstream adoption (IBM commercial: </a:t>
            </a:r>
            <a:r>
              <a:rPr lang="en-US" dirty="0">
                <a:hlinkClick r:id="rId3"/>
              </a:rPr>
              <a:t>https://www.youtube.com/watch?v=fJA9eiUktcA</a:t>
            </a:r>
            <a:r>
              <a:rPr lang="en-US" dirty="0"/>
              <a:t>)  </a:t>
            </a:r>
          </a:p>
          <a:p>
            <a:pPr lvl="1"/>
            <a:r>
              <a:rPr lang="en-US" dirty="0"/>
              <a:t>2008: 64 million Linux installs</a:t>
            </a:r>
          </a:p>
          <a:p>
            <a:pPr lvl="2"/>
            <a:r>
              <a:rPr lang="en-US" dirty="0"/>
              <a:t>Mobile, IoT, cloud, on-prem servers (</a:t>
            </a:r>
            <a:r>
              <a:rPr lang="en-US" dirty="0">
                <a:hlinkClick r:id="rId4"/>
              </a:rPr>
              <a:t>https://www.youtube.com/watch?v=uxg17JlyFas</a:t>
            </a:r>
            <a:r>
              <a:rPr lang="en-US" dirty="0"/>
              <a:t>) 	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4660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pic>
        <p:nvPicPr>
          <p:cNvPr id="4" name="Picture 3" descr="A diagram of a penguin&#10;&#10;Description automatically generated">
            <a:extLst>
              <a:ext uri="{FF2B5EF4-FFF2-40B4-BE49-F238E27FC236}">
                <a16:creationId xmlns:a16="http://schemas.microsoft.com/office/drawing/2014/main" id="{39823ACA-9800-98B9-4137-3975507B69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99" y="1828800"/>
            <a:ext cx="8726201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7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pic>
        <p:nvPicPr>
          <p:cNvPr id="4" name="Picture 2" descr="Image result for daddy what are clouds made o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12" y="1371600"/>
            <a:ext cx="7543799" cy="515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055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57400"/>
            <a:ext cx="7543800" cy="360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74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7400"/>
            <a:ext cx="7543800" cy="360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91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7400"/>
            <a:ext cx="7543800" cy="360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49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7400"/>
            <a:ext cx="7543800" cy="360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107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00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Gartner estimated that in 2020, over 90% of the world population is currently a Linux user in some way:</a:t>
            </a:r>
            <a:br>
              <a:rPr lang="en-US" dirty="0"/>
            </a:br>
            <a:r>
              <a:rPr lang="en-US" dirty="0"/>
              <a:t>	86% of embedded devices</a:t>
            </a:r>
            <a:br>
              <a:rPr lang="en-US" dirty="0"/>
            </a:br>
            <a:r>
              <a:rPr lang="en-US" dirty="0"/>
              <a:t>	100% of supercomputers </a:t>
            </a:r>
            <a:br>
              <a:rPr lang="en-US" dirty="0"/>
            </a:br>
            <a:r>
              <a:rPr lang="en-US" dirty="0"/>
              <a:t>	83% of smartphones/tablets/wearables (Android)</a:t>
            </a:r>
            <a:br>
              <a:rPr lang="en-US" dirty="0"/>
            </a:br>
            <a:r>
              <a:rPr lang="en-US" dirty="0"/>
              <a:t>	68% of servers (97% cloud, 29% on-premises)</a:t>
            </a:r>
            <a:br>
              <a:rPr lang="en-US" dirty="0"/>
            </a:br>
            <a:r>
              <a:rPr lang="en-US" dirty="0"/>
              <a:t>	96% of network appliances (routers, WAPs, NGFWs)</a:t>
            </a:r>
            <a:br>
              <a:rPr lang="en-US" dirty="0"/>
            </a:br>
            <a:r>
              <a:rPr lang="en-US" dirty="0"/>
              <a:t>	11% of desktops/laptops (includes Chromebooks and 		developer workstations)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00B050"/>
                </a:solidFill>
              </a:rPr>
              <a:t>=67% of all devices worldwide!</a:t>
            </a:r>
            <a:br>
              <a:rPr lang="en-US" b="1" dirty="0">
                <a:solidFill>
                  <a:srgbClr val="00B050"/>
                </a:solidFill>
              </a:rPr>
            </a:b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852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US" dirty="0"/>
              <a:t>Common Linux distributions/distros</a:t>
            </a:r>
          </a:p>
          <a:p>
            <a:pPr lvl="1"/>
            <a:r>
              <a:rPr lang="en-US" dirty="0"/>
              <a:t>Table 1-4</a:t>
            </a:r>
          </a:p>
          <a:p>
            <a:pPr lvl="1"/>
            <a:r>
              <a:rPr lang="en-US" dirty="0"/>
              <a:t>We’ll use </a:t>
            </a:r>
            <a:r>
              <a:rPr lang="en-US" b="1" dirty="0">
                <a:solidFill>
                  <a:srgbClr val="00B050"/>
                </a:solidFill>
              </a:rPr>
              <a:t>Fedora Workstation </a:t>
            </a:r>
            <a:r>
              <a:rPr lang="en-US" dirty="0"/>
              <a:t>&amp;</a:t>
            </a:r>
            <a:r>
              <a:rPr lang="en-US" b="1" dirty="0">
                <a:solidFill>
                  <a:srgbClr val="00B050"/>
                </a:solidFill>
              </a:rPr>
              <a:t> Ubuntu Server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Different distros often:</a:t>
            </a:r>
          </a:p>
          <a:p>
            <a:pPr lvl="1"/>
            <a:r>
              <a:rPr lang="en-US" dirty="0"/>
              <a:t>Have different pre-packaged desktop environments (</a:t>
            </a:r>
            <a:r>
              <a:rPr lang="en-US" b="1" dirty="0">
                <a:solidFill>
                  <a:srgbClr val="00B050"/>
                </a:solidFill>
              </a:rPr>
              <a:t>GNOME</a:t>
            </a:r>
            <a:r>
              <a:rPr lang="en-US" dirty="0"/>
              <a:t> &amp; </a:t>
            </a:r>
            <a:r>
              <a:rPr lang="en-US" b="1" dirty="0">
                <a:solidFill>
                  <a:srgbClr val="00B050"/>
                </a:solidFill>
              </a:rPr>
              <a:t>KDE</a:t>
            </a:r>
            <a:r>
              <a:rPr lang="en-US" dirty="0"/>
              <a:t> are the most common) </a:t>
            </a:r>
          </a:p>
          <a:p>
            <a:pPr lvl="2"/>
            <a:r>
              <a:rPr lang="en-US" dirty="0"/>
              <a:t>Desktop environments run on top of the </a:t>
            </a:r>
            <a:r>
              <a:rPr lang="en-US" b="1" dirty="0">
                <a:solidFill>
                  <a:srgbClr val="00B050"/>
                </a:solidFill>
              </a:rPr>
              <a:t>X Windows </a:t>
            </a:r>
            <a:r>
              <a:rPr lang="en-US" dirty="0"/>
              <a:t>GUI (either </a:t>
            </a:r>
            <a:r>
              <a:rPr lang="en-US" b="1" dirty="0">
                <a:solidFill>
                  <a:srgbClr val="00B050"/>
                </a:solidFill>
              </a:rPr>
              <a:t>X.org/X11 </a:t>
            </a:r>
            <a:r>
              <a:rPr lang="en-US" dirty="0"/>
              <a:t>or the new </a:t>
            </a:r>
            <a:r>
              <a:rPr lang="en-US" b="1" dirty="0">
                <a:solidFill>
                  <a:srgbClr val="00B050"/>
                </a:solidFill>
              </a:rPr>
              <a:t>Wayland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3804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Support different </a:t>
            </a:r>
            <a:r>
              <a:rPr lang="en-US" b="1" dirty="0">
                <a:solidFill>
                  <a:srgbClr val="00B050"/>
                </a:solidFill>
              </a:rPr>
              <a:t>package managers </a:t>
            </a:r>
          </a:p>
          <a:p>
            <a:pPr lvl="2"/>
            <a:r>
              <a:rPr lang="en-US" dirty="0"/>
              <a:t>Red Hat Package Manager (RPM) ~ Fedora</a:t>
            </a:r>
          </a:p>
          <a:p>
            <a:pPr lvl="2"/>
            <a:r>
              <a:rPr lang="en-US" dirty="0"/>
              <a:t>Debian Package Manager (DPM) ~ Ubuntu</a:t>
            </a:r>
          </a:p>
          <a:p>
            <a:pPr lvl="1"/>
            <a:r>
              <a:rPr lang="en-US" dirty="0"/>
              <a:t>Support different </a:t>
            </a:r>
            <a:r>
              <a:rPr lang="en-US" b="1" dirty="0">
                <a:solidFill>
                  <a:srgbClr val="00B050"/>
                </a:solidFill>
              </a:rPr>
              <a:t>sandboxed</a:t>
            </a:r>
            <a:r>
              <a:rPr lang="en-US" dirty="0"/>
              <a:t> (all-in-one) apps</a:t>
            </a:r>
          </a:p>
          <a:p>
            <a:pPr lvl="2"/>
            <a:r>
              <a:rPr lang="en-US" dirty="0"/>
              <a:t>Snap (Ubuntu)</a:t>
            </a:r>
          </a:p>
          <a:p>
            <a:pPr lvl="2"/>
            <a:r>
              <a:rPr lang="en-US" dirty="0" err="1"/>
              <a:t>Flatpak</a:t>
            </a:r>
            <a:r>
              <a:rPr lang="en-US" dirty="0"/>
              <a:t> (Fedora)</a:t>
            </a:r>
          </a:p>
          <a:p>
            <a:pPr lvl="2"/>
            <a:r>
              <a:rPr lang="en-US" dirty="0" err="1"/>
              <a:t>AppImage</a:t>
            </a:r>
            <a:r>
              <a:rPr lang="en-US" dirty="0"/>
              <a:t> (both)</a:t>
            </a:r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You can also distribute software and source code in </a:t>
            </a:r>
            <a:r>
              <a:rPr lang="en-US" b="1" dirty="0" err="1">
                <a:solidFill>
                  <a:srgbClr val="00B050"/>
                </a:solidFill>
              </a:rPr>
              <a:t>tarball</a:t>
            </a:r>
            <a:r>
              <a:rPr lang="en-US" dirty="0"/>
              <a:t> format for </a:t>
            </a:r>
            <a:r>
              <a:rPr lang="en-US" u="sng" dirty="0"/>
              <a:t>any</a:t>
            </a:r>
            <a:r>
              <a:rPr lang="en-US" dirty="0"/>
              <a:t> distro</a:t>
            </a:r>
          </a:p>
          <a:p>
            <a:pPr lvl="2"/>
            <a:r>
              <a:rPr lang="en-US" dirty="0"/>
              <a:t>In this case, you run the compiled software, or compile the source code yourself to generate the program</a:t>
            </a:r>
          </a:p>
          <a:p>
            <a:pPr lvl="2"/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787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US" dirty="0"/>
              <a:t>More on Linux in the cloud</a:t>
            </a:r>
          </a:p>
          <a:p>
            <a:pPr lvl="1"/>
            <a:r>
              <a:rPr lang="en-US" dirty="0"/>
              <a:t>Cloud delivery models (IaaS, PaaS, SaaS) </a:t>
            </a:r>
          </a:p>
          <a:p>
            <a:pPr lvl="2"/>
            <a:r>
              <a:rPr lang="en-US" dirty="0"/>
              <a:t>Figure 1-9, 1-10, and 1-11</a:t>
            </a:r>
          </a:p>
          <a:p>
            <a:pPr lvl="1"/>
            <a:r>
              <a:rPr lang="en-US" dirty="0"/>
              <a:t>Cloud workflows (=</a:t>
            </a:r>
            <a:r>
              <a:rPr lang="en-US" dirty="0" err="1"/>
              <a:t>Devops</a:t>
            </a:r>
            <a:r>
              <a:rPr lang="en-US" dirty="0"/>
              <a:t> workflow)</a:t>
            </a:r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Continuous integration (CI)</a:t>
            </a:r>
            <a:r>
              <a:rPr lang="en-US" dirty="0"/>
              <a:t> of code to GitHub</a:t>
            </a:r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Continuous deployment (CD)</a:t>
            </a:r>
            <a:r>
              <a:rPr lang="en-US" dirty="0"/>
              <a:t> from GitHub to orchestrator and build automation in cloud (testing </a:t>
            </a:r>
            <a:r>
              <a:rPr lang="en-US" dirty="0">
                <a:sym typeface="Wingdings" pitchFamily="2" charset="2"/>
              </a:rPr>
              <a:t> production)</a:t>
            </a:r>
          </a:p>
          <a:p>
            <a:pPr lvl="2"/>
            <a:r>
              <a:rPr lang="en-US" dirty="0">
                <a:sym typeface="Wingdings" pitchFamily="2" charset="2"/>
              </a:rPr>
              <a:t>Figure 1-13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002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You know Linux? You also know UNIX! </a:t>
            </a:r>
          </a:p>
          <a:p>
            <a:pPr lvl="1"/>
            <a:r>
              <a:rPr lang="en-US" dirty="0" err="1"/>
              <a:t>macOS</a:t>
            </a:r>
            <a:r>
              <a:rPr lang="en-US" dirty="0"/>
              <a:t>/iOS, Cisco IOS, BSD, etc.</a:t>
            </a:r>
          </a:p>
          <a:p>
            <a:r>
              <a:rPr lang="en-US" dirty="0"/>
              <a:t>CompTIA Linux+ certification </a:t>
            </a:r>
          </a:p>
          <a:p>
            <a:pPr lvl="1"/>
            <a:r>
              <a:rPr lang="en-US" dirty="0"/>
              <a:t>Very desirable for many jobs (cloud, cybersecurity, etc.)</a:t>
            </a:r>
          </a:p>
          <a:p>
            <a:pPr lvl="1"/>
            <a:r>
              <a:rPr lang="en-US" dirty="0"/>
              <a:t>Everything on exam is in your book (plus more!)</a:t>
            </a:r>
          </a:p>
          <a:p>
            <a:pPr lvl="1"/>
            <a:r>
              <a:rPr lang="en-US" dirty="0"/>
              <a:t>No substitute for practice in a virtual machine!</a:t>
            </a:r>
          </a:p>
          <a:p>
            <a:r>
              <a:rPr lang="en-US" dirty="0"/>
              <a:t>Lots of Internet resources: </a:t>
            </a:r>
          </a:p>
          <a:p>
            <a:pPr lvl="1"/>
            <a:r>
              <a:rPr lang="en-US" dirty="0">
                <a:hlinkClick r:id="rId3"/>
              </a:rPr>
              <a:t>www.explainshell.com</a:t>
            </a:r>
            <a:r>
              <a:rPr lang="en-US" dirty="0"/>
              <a:t>,   </a:t>
            </a:r>
            <a:r>
              <a:rPr lang="en-US" dirty="0">
                <a:hlinkClick r:id="rId4"/>
              </a:rPr>
              <a:t>www.ss64.com/bash</a:t>
            </a:r>
            <a:endParaRPr lang="en-US" dirty="0"/>
          </a:p>
          <a:p>
            <a:pPr lvl="1"/>
            <a:r>
              <a:rPr lang="en-US" dirty="0"/>
              <a:t>@Fedora, @</a:t>
            </a:r>
            <a:r>
              <a:rPr lang="en-US" dirty="0" err="1"/>
              <a:t>AskUbuntu</a:t>
            </a:r>
            <a:r>
              <a:rPr lang="en-US" dirty="0"/>
              <a:t>, @</a:t>
            </a:r>
            <a:r>
              <a:rPr lang="en-US" dirty="0" err="1"/>
              <a:t>LinuxQuestions</a:t>
            </a:r>
            <a:endParaRPr lang="en-US" dirty="0"/>
          </a:p>
          <a:p>
            <a:r>
              <a:rPr lang="en-US" dirty="0"/>
              <a:t>KW-</a:t>
            </a:r>
            <a:r>
              <a:rPr lang="en-US" b="1" dirty="0">
                <a:solidFill>
                  <a:srgbClr val="00B050"/>
                </a:solidFill>
              </a:rPr>
              <a:t>LUG</a:t>
            </a:r>
            <a:br>
              <a:rPr lang="en-US" dirty="0"/>
            </a:br>
            <a:r>
              <a:rPr lang="en-US" dirty="0"/>
              <a:t>	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36576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Ch.1 Introduction to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US" dirty="0"/>
              <a:t>Linux installation types:</a:t>
            </a:r>
          </a:p>
          <a:p>
            <a:pPr lvl="1"/>
            <a:r>
              <a:rPr lang="en-US" dirty="0"/>
              <a:t>Bare metal (write ISO to DVD/USB flash drive)</a:t>
            </a:r>
          </a:p>
          <a:p>
            <a:pPr lvl="1"/>
            <a:r>
              <a:rPr lang="en-US" dirty="0"/>
              <a:t>WSLv2 (Linux running next to Windows – </a:t>
            </a:r>
            <a:r>
              <a:rPr lang="en-US" dirty="0" err="1"/>
              <a:t>devs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Virtual machine (full Linux distro)</a:t>
            </a:r>
          </a:p>
          <a:p>
            <a:pPr lvl="2"/>
            <a:r>
              <a:rPr lang="en-US" dirty="0"/>
              <a:t>Type 1 (</a:t>
            </a:r>
            <a:r>
              <a:rPr lang="en-US" b="1" dirty="0">
                <a:solidFill>
                  <a:srgbClr val="00B050"/>
                </a:solidFill>
              </a:rPr>
              <a:t>Hyper-V</a:t>
            </a:r>
            <a:r>
              <a:rPr lang="en-US" dirty="0"/>
              <a:t>), Type 2 (Oracle VM </a:t>
            </a:r>
            <a:r>
              <a:rPr lang="en-US" dirty="0" err="1"/>
              <a:t>Virtualbox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Container (mini VM without a Linux kernel/libraries)</a:t>
            </a:r>
          </a:p>
          <a:p>
            <a:pPr lvl="2"/>
            <a:r>
              <a:rPr lang="en-US" dirty="0"/>
              <a:t>Run on existing Linux system + container runtime (docker)	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12909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exercises/tasks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r>
              <a:rPr lang="en-US" dirty="0"/>
              <a:t>Ensure you have Hyper-V installed</a:t>
            </a:r>
          </a:p>
          <a:p>
            <a:r>
              <a:rPr lang="en-US" dirty="0"/>
              <a:t>Create C:\SOURCE to store everything </a:t>
            </a:r>
          </a:p>
          <a:p>
            <a:pPr lvl="1"/>
            <a:r>
              <a:rPr lang="en-US" dirty="0"/>
              <a:t>Download Fedora Workstation Linux ISO to this folder before tomorrow (latest version)</a:t>
            </a:r>
          </a:p>
          <a:p>
            <a:r>
              <a:rPr lang="en-US" dirty="0"/>
              <a:t>Read Ch.1 of the textbook and do the questions at the end</a:t>
            </a:r>
          </a:p>
          <a:p>
            <a:r>
              <a:rPr lang="en-US" dirty="0"/>
              <a:t>Optionally perform some of the Discovery Exercises at the end of Ch.1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10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1405</Words>
  <Application>Microsoft Office PowerPoint</Application>
  <PresentationFormat>On-screen Show (4:3)</PresentationFormat>
  <Paragraphs>165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Office Theme</vt:lpstr>
      <vt:lpstr>Introduction to  Linux Administration Day 1</vt:lpstr>
      <vt:lpstr>Agenda</vt:lpstr>
      <vt:lpstr>Course/Block Introduction</vt:lpstr>
      <vt:lpstr>Course/Block Introduction</vt:lpstr>
      <vt:lpstr>Course/Block Introduction</vt:lpstr>
      <vt:lpstr>Course/Block Introduction</vt:lpstr>
      <vt:lpstr>PowerPoint Presentation</vt:lpstr>
      <vt:lpstr>PowerPoint Presentation</vt:lpstr>
      <vt:lpstr>PowerPoint Presentation</vt:lpstr>
      <vt:lpstr>Tips for Microsoft Teams</vt:lpstr>
      <vt:lpstr>Online Search and AI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Ch.1 Introduction to Linux</vt:lpstr>
      <vt:lpstr>Lab exercises/tasks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vi/vim Editor</dc:title>
  <dc:creator>Jason Eckert</dc:creator>
  <cp:lastModifiedBy>Abu Afza</cp:lastModifiedBy>
  <cp:revision>184</cp:revision>
  <dcterms:created xsi:type="dcterms:W3CDTF">2019-08-03T13:30:56Z</dcterms:created>
  <dcterms:modified xsi:type="dcterms:W3CDTF">2026-09-14T12:30:51Z</dcterms:modified>
</cp:coreProperties>
</file>